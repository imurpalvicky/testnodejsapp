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A6413"/>
                </a:solidFill>
                <a:latin typeface="Segoe UI"/>
              </a:rPr>
              <a:t>SECURITY REMEDIATION  · 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1089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C8693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1A20"/>
                </a:solidFill>
                <a:latin typeface="Segoe UI"/>
              </a:rPr>
              <a:t>Where Findings Come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361"/>
                </a:solidFill>
                <a:latin typeface="Segoe UI"/>
              </a:rPr>
              <a:t>Every discovery source converges on one intake format. Two platforms then add what raw findings lack — estate correlation, and evidence of real exploitability.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2287" y="1938528"/>
            <a:ext cx="1481328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8007" y="20391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1A20"/>
                </a:solidFill>
                <a:latin typeface="Segoe UI"/>
              </a:rPr>
              <a:t>Mythos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863" y="2286000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50" b="1">
                <a:solidFill>
                  <a:srgbClr val="9A6413"/>
                </a:solidFill>
                <a:latin typeface="Segoe UI"/>
              </a:rPr>
              <a:t>AI DISCOVERY</a:t>
            </a:r>
          </a:p>
          <a:p>
            <a:pPr algn="ctr">
              <a:lnSpc>
                <a:spcPct val="105000"/>
              </a:lnSpc>
            </a:pPr>
            <a:r>
              <a:rPr sz="600" b="0">
                <a:solidFill>
                  <a:srgbClr val="7C8693"/>
                </a:solidFill>
                <a:latin typeface="Segoe UI"/>
              </a:rPr>
              <a:t>ZERO-DAY, FIRST-PARTY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9919" y="1938528"/>
            <a:ext cx="1481328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145639" y="20391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1A20"/>
                </a:solidFill>
                <a:latin typeface="Segoe UI"/>
              </a:rPr>
              <a:t>Veracode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6495" y="2286000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50" b="1">
                <a:solidFill>
                  <a:srgbClr val="9A6413"/>
                </a:solidFill>
                <a:latin typeface="Segoe UI"/>
              </a:rPr>
              <a:t>SAST</a:t>
            </a:r>
          </a:p>
          <a:p>
            <a:pPr algn="ctr">
              <a:lnSpc>
                <a:spcPct val="105000"/>
              </a:lnSpc>
            </a:pPr>
            <a:r>
              <a:rPr sz="600" b="0">
                <a:solidFill>
                  <a:srgbClr val="7C8693"/>
                </a:solidFill>
                <a:latin typeface="Segoe UI"/>
              </a:rPr>
              <a:t>STATIC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7551" y="1938528"/>
            <a:ext cx="1481328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73271" y="20391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1A20"/>
                </a:solidFill>
                <a:latin typeface="Segoe UI"/>
              </a:rPr>
              <a:t>Veracode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4127" y="2286000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50" b="1">
                <a:solidFill>
                  <a:srgbClr val="9A6413"/>
                </a:solidFill>
                <a:latin typeface="Segoe UI"/>
              </a:rPr>
              <a:t>SCA</a:t>
            </a:r>
          </a:p>
          <a:p>
            <a:pPr algn="ctr">
              <a:lnSpc>
                <a:spcPct val="105000"/>
              </a:lnSpc>
            </a:pPr>
            <a:r>
              <a:rPr sz="600" b="0">
                <a:solidFill>
                  <a:srgbClr val="7C8693"/>
                </a:solidFill>
                <a:latin typeface="Segoe UI"/>
              </a:rPr>
              <a:t>DEPENDENCIES + CVE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5183" y="1938528"/>
            <a:ext cx="1481328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00903" y="20391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1A20"/>
                </a:solidFill>
                <a:latin typeface="Segoe UI"/>
              </a:rPr>
              <a:t>Veracode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1759" y="2286000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50" b="1">
                <a:solidFill>
                  <a:srgbClr val="9A6413"/>
                </a:solidFill>
                <a:latin typeface="Segoe UI"/>
              </a:rPr>
              <a:t>DAST</a:t>
            </a:r>
          </a:p>
          <a:p>
            <a:pPr algn="ctr">
              <a:lnSpc>
                <a:spcPct val="105000"/>
              </a:lnSpc>
            </a:pPr>
            <a:r>
              <a:rPr sz="600" b="0">
                <a:solidFill>
                  <a:srgbClr val="7C8693"/>
                </a:solidFill>
                <a:latin typeface="Segoe UI"/>
              </a:rPr>
              <a:t>RUNNING 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82815" y="1938528"/>
            <a:ext cx="1481328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28535" y="20391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1A20"/>
                </a:solidFill>
                <a:latin typeface="Segoe UI"/>
              </a:rPr>
              <a:t>Wiz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9391" y="2286000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50" b="1">
                <a:solidFill>
                  <a:srgbClr val="9A6413"/>
                </a:solidFill>
                <a:latin typeface="Segoe UI"/>
              </a:rPr>
              <a:t>IMAGE + CLOUD</a:t>
            </a:r>
          </a:p>
          <a:p>
            <a:pPr algn="ctr">
              <a:lnSpc>
                <a:spcPct val="105000"/>
              </a:lnSpc>
            </a:pPr>
            <a:r>
              <a:rPr sz="600" b="0">
                <a:solidFill>
                  <a:srgbClr val="7C8693"/>
                </a:solidFill>
                <a:latin typeface="Segoe UI"/>
              </a:rPr>
              <a:t>CONTAINERS, POSTURE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0447" y="1938528"/>
            <a:ext cx="1481328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56167" y="20391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1A20"/>
                </a:solidFill>
                <a:latin typeface="Segoe UI"/>
              </a:rPr>
              <a:t>Qualys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7023" y="2286000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50" b="1">
                <a:solidFill>
                  <a:srgbClr val="9A6413"/>
                </a:solidFill>
                <a:latin typeface="Segoe UI"/>
              </a:rPr>
              <a:t>INFRASTRUCTURE</a:t>
            </a:r>
          </a:p>
          <a:p>
            <a:pPr algn="ctr">
              <a:lnSpc>
                <a:spcPct val="105000"/>
              </a:lnSpc>
            </a:pPr>
            <a:r>
              <a:rPr sz="600" b="0">
                <a:solidFill>
                  <a:srgbClr val="7C8693"/>
                </a:solidFill>
                <a:latin typeface="Segoe UI"/>
              </a:rPr>
              <a:t>HOSTS, MIDDLEWARE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38079" y="1938528"/>
            <a:ext cx="1481328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283799" y="20391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1A20"/>
                </a:solidFill>
                <a:latin typeface="Segoe UI"/>
              </a:rPr>
              <a:t>HackerOne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4655" y="2286000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50" b="1">
                <a:solidFill>
                  <a:srgbClr val="9A6413"/>
                </a:solidFill>
                <a:latin typeface="Segoe UI"/>
              </a:rPr>
              <a:t>EXTERNAL</a:t>
            </a:r>
          </a:p>
          <a:p>
            <a:pPr algn="ctr">
              <a:lnSpc>
                <a:spcPct val="105000"/>
              </a:lnSpc>
            </a:pPr>
            <a:r>
              <a:rPr sz="600" b="0">
                <a:solidFill>
                  <a:srgbClr val="7C8693"/>
                </a:solidFill>
                <a:latin typeface="Segoe UI"/>
              </a:rPr>
              <a:t>BOUNTY + PEN 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2287" y="2834640"/>
            <a:ext cx="11247120" cy="402336"/>
          </a:xfrm>
          <a:prstGeom prst="roundRect">
            <a:avLst>
              <a:gd name="adj" fmla="val 10000"/>
            </a:avLst>
          </a:prstGeom>
          <a:solidFill>
            <a:srgbClr val="F4EDE1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72287" y="2944368"/>
            <a:ext cx="11247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9A6413"/>
                </a:solidFill>
                <a:latin typeface="Segoe UI"/>
              </a:rPr>
              <a:t>NORMALIZE TO SARIF  ·  ONE INTAKE FORMAT  ·  CANONICAL ID MINTED HERE  ·  DOWNSTREAM NEVER BRANCHES ON TOOL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2287" y="3310128"/>
            <a:ext cx="5486400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0031" y="3493008"/>
            <a:ext cx="5010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9A6413"/>
                </a:solidFill>
                <a:latin typeface="Segoe UI"/>
              </a:rPr>
              <a:t>IBM CONCERT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031" y="3730752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1A20"/>
                </a:solidFill>
                <a:latin typeface="Segoe UI"/>
              </a:rPr>
              <a:t>Intake, correlation and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031" y="4096512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71A20"/>
                </a:solidFill>
                <a:latin typeface="Segoe UI"/>
              </a:rPr>
              <a:t>Ingests every source —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031" y="4096512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                              SARIF via static_code_scan; repo_url required, which ties findings to inventory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031" y="4425696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71A20"/>
                </a:solidFill>
                <a:latin typeface="Segoe UI"/>
              </a:rPr>
              <a:t>Correlates the estate —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031" y="4425696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                              Application, component and ownership context in one place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031" y="4754880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71A20"/>
                </a:solidFill>
                <a:latin typeface="Segoe UI"/>
              </a:rPr>
              <a:t>Holds parent and child IDs —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031" y="4754880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                              Status, SLA clock, and closure written back at the end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0031" y="4828032"/>
            <a:ext cx="5010912" cy="548640"/>
          </a:xfrm>
          <a:prstGeom prst="roundRect">
            <a:avLst>
              <a:gd name="adj" fmla="val 6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9759" y="4901184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4A5361"/>
                </a:solidFill>
                <a:latin typeface="Segoe UI"/>
              </a:rPr>
              <a:t>UNPROVEN  ·  Risk score is CVSS × EPSS × environmental, so AI-discovered findings need a separate priority band. Two capabilities must be proven before the design depends on them: SARIF de-duplication, and reverse SBOM lookup.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3007" y="3310128"/>
            <a:ext cx="5486400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70751" y="3493008"/>
            <a:ext cx="5010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9A6413"/>
                </a:solidFill>
                <a:latin typeface="Segoe UI"/>
              </a:rPr>
              <a:t>AWS CONTINUUM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0751" y="3730752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1A20"/>
                </a:solidFill>
                <a:latin typeface="Segoe UI"/>
              </a:rPr>
              <a:t>Reachability and revalidation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0751" y="4096512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71A20"/>
                </a:solidFill>
                <a:latin typeface="Segoe UI"/>
              </a:rPr>
              <a:t>Ranks by real reachability —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0751" y="4096512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                              Which children are exploitable in the deployed app — filters before agent spend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0751" y="4425696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71A20"/>
                </a:solidFill>
                <a:latin typeface="Segoe UI"/>
              </a:rPr>
              <a:t>Revalidates a finding —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0751" y="4425696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                              Re-tests one selected finding against the live app: Active or Resolved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0751" y="4754880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71A20"/>
                </a:solidFill>
                <a:latin typeface="Segoe UI"/>
              </a:rPr>
              <a:t>Caps its own spend —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0751" y="4754880"/>
            <a:ext cx="50109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                              Task-hour ceiling, stopping gracefully and keeping partial findings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70751" y="4828032"/>
            <a:ext cx="5010912" cy="548640"/>
          </a:xfrm>
          <a:prstGeom prst="roundRect">
            <a:avLst>
              <a:gd name="adj" fmla="val 6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580479" y="4901184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4A5361"/>
                </a:solidFill>
                <a:latin typeface="Segoe UI"/>
              </a:rPr>
              <a:t>BOUNDARY  ·  Tests the running application, not source — so it informs prioritization and confirms a fix held, but cannot assess un-deployed code. Its verdict is agent judgement: it corroborates closure, never certifies it.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760720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943600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800" b="1">
                <a:solidFill>
                  <a:srgbClr val="9A6413"/>
                </a:solidFill>
                <a:latin typeface="Segoe UI"/>
              </a:rPr>
              <a:t>HOW THE TWO PLATFORMS RELATE TO PROOF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5361"/>
                </a:solidFill>
                <a:latin typeface="Segoe UI"/>
              </a:rPr>
              <a:t>Concert answers who is affected. Continuum answers whether it is really exploitable, and helps confirm a fix held. Neither certifies closure — the proof test committed alongside the fix does that, deterministically, for years after both platforms have moved 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A6413"/>
                </a:solidFill>
                <a:latin typeface="Segoe UI"/>
              </a:rPr>
              <a:t>SECURITY REMEDIATION  ·  TARGET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1089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C8693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1A20"/>
                </a:solidFill>
                <a:latin typeface="Segoe UI"/>
              </a:rPr>
              <a:t>The Remediation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361"/>
                </a:solidFill>
                <a:latin typeface="Segoe UI"/>
              </a:rPr>
              <a:t>One finding fans out to every affected component. Each is fixed, proven and released independently — and the finding closes only when all of them reach production.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2015" y="205740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EEF0F3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6879" y="224028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1A20"/>
                </a:solidFill>
                <a:latin typeface="Segoe UI"/>
              </a:rP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" y="2606040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650" b="1">
                <a:solidFill>
                  <a:srgbClr val="7C8693"/>
                </a:solidFill>
                <a:latin typeface="Segoe UI"/>
              </a:rPr>
              <a:t>MINT CANONICAL ID</a:t>
            </a:r>
          </a:p>
          <a:p>
            <a:pPr algn="ctr">
              <a:lnSpc>
                <a:spcPct val="105000"/>
              </a:lnSpc>
            </a:pPr>
            <a:r>
              <a:rPr sz="650" b="0">
                <a:solidFill>
                  <a:srgbClr val="7C8693"/>
                </a:solidFill>
                <a:latin typeface="Segoe UI"/>
              </a:rPr>
              <a:t>SARIF INTAKE · DEDUPE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39315" y="2583179"/>
            <a:ext cx="118872" cy="137160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981047" y="205740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EEF0F3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35911" y="224028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1A20"/>
                </a:solidFill>
                <a:latin typeface="Segoe UI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6767" y="2606040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650" b="1">
                <a:solidFill>
                  <a:srgbClr val="7C8693"/>
                </a:solidFill>
                <a:latin typeface="Segoe UI"/>
              </a:rPr>
              <a:t>SBOM → CHILD IDS</a:t>
            </a:r>
          </a:p>
          <a:p>
            <a:pPr algn="ctr">
              <a:lnSpc>
                <a:spcPct val="105000"/>
              </a:lnSpc>
            </a:pPr>
            <a:r>
              <a:rPr sz="650" b="0">
                <a:solidFill>
                  <a:srgbClr val="7C8693"/>
                </a:solidFill>
                <a:latin typeface="Segoe UI"/>
              </a:rPr>
              <a:t>REACHABILITY RANKS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38347" y="2583179"/>
            <a:ext cx="118872" cy="137160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380079" y="205740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EEF0F3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34943" y="224028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1A20"/>
                </a:solidFill>
                <a:latin typeface="Segoe UI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5799" y="2606040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650" b="1">
                <a:solidFill>
                  <a:srgbClr val="7C8693"/>
                </a:solidFill>
                <a:latin typeface="Segoe UI"/>
              </a:rPr>
              <a:t>FIX + PROOF TEST</a:t>
            </a:r>
          </a:p>
          <a:p>
            <a:pPr algn="ctr">
              <a:lnSpc>
                <a:spcPct val="105000"/>
              </a:lnSpc>
            </a:pPr>
            <a:r>
              <a:rPr sz="650" b="0">
                <a:solidFill>
                  <a:srgbClr val="7C8693"/>
                </a:solidFill>
                <a:latin typeface="Segoe UI"/>
              </a:rPr>
              <a:t>OR RISK ACCEPT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637379" y="2583179"/>
            <a:ext cx="118872" cy="137160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779111" y="205740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F4EDE1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833975" y="224028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1A20"/>
                </a:solidFill>
                <a:latin typeface="Segoe UI"/>
              </a:rPr>
              <a:t>PR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4831" y="2606040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650" b="1">
                <a:solidFill>
                  <a:srgbClr val="9A6413"/>
                </a:solidFill>
                <a:latin typeface="Segoe UI"/>
              </a:rPr>
              <a:t>CODE OWNER</a:t>
            </a:r>
          </a:p>
          <a:p>
            <a:pPr algn="ctr">
              <a:lnSpc>
                <a:spcPct val="105000"/>
              </a:lnSpc>
            </a:pPr>
            <a:r>
              <a:rPr sz="650" b="0">
                <a:solidFill>
                  <a:srgbClr val="9A6413"/>
                </a:solidFill>
                <a:latin typeface="Segoe UI"/>
              </a:rPr>
              <a:t>APPROVES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36411" y="2583179"/>
            <a:ext cx="118872" cy="137160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178143" y="205740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EEF0F3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33007" y="224028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1A20"/>
                </a:solidFill>
                <a:latin typeface="Segoe UI"/>
              </a:rPr>
              <a:t>PR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2606040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650" b="1">
                <a:solidFill>
                  <a:srgbClr val="7C8693"/>
                </a:solidFill>
                <a:latin typeface="Segoe UI"/>
              </a:rPr>
              <a:t>DELTA SCANS ONLY</a:t>
            </a:r>
          </a:p>
          <a:p>
            <a:pPr algn="ctr">
              <a:lnSpc>
                <a:spcPct val="105000"/>
              </a:lnSpc>
            </a:pPr>
            <a:r>
              <a:rPr sz="650" b="0">
                <a:solidFill>
                  <a:srgbClr val="7C8693"/>
                </a:solidFill>
                <a:latin typeface="Segoe UI"/>
              </a:rPr>
              <a:t>PROOF TEST GATE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435443" y="2583179"/>
            <a:ext cx="118872" cy="137160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7577175" y="205740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EEF0F3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32039" y="224028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1A20"/>
                </a:solidFill>
                <a:latin typeface="Segoe UI"/>
              </a:rPr>
              <a:t>Component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2895" y="2606040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650" b="1">
                <a:solidFill>
                  <a:srgbClr val="7C8693"/>
                </a:solidFill>
                <a:latin typeface="Segoe UI"/>
              </a:rPr>
              <a:t>BUILD ONCE</a:t>
            </a:r>
          </a:p>
          <a:p>
            <a:pPr algn="ctr">
              <a:lnSpc>
                <a:spcPct val="105000"/>
              </a:lnSpc>
            </a:pPr>
            <a:r>
              <a:rPr sz="650" b="0">
                <a:solidFill>
                  <a:srgbClr val="7C8693"/>
                </a:solidFill>
                <a:latin typeface="Segoe UI"/>
              </a:rPr>
              <a:t>EPHEMERAL INFRA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834475" y="2583179"/>
            <a:ext cx="118872" cy="137160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976207" y="205740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F4EDE1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31071" y="224028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1A20"/>
                </a:solidFill>
                <a:latin typeface="Segoe UI"/>
              </a:rPr>
              <a:t>App 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1927" y="2606040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650" b="1">
                <a:solidFill>
                  <a:srgbClr val="9A6413"/>
                </a:solidFill>
                <a:latin typeface="Segoe UI"/>
              </a:rPr>
              <a:t>QA PROFILE</a:t>
            </a:r>
          </a:p>
          <a:p>
            <a:pPr algn="ctr">
              <a:lnSpc>
                <a:spcPct val="105000"/>
              </a:lnSpc>
            </a:pPr>
            <a:r>
              <a:rPr sz="650" b="0">
                <a:solidFill>
                  <a:srgbClr val="9A6413"/>
                </a:solidFill>
                <a:latin typeface="Segoe UI"/>
              </a:rPr>
              <a:t>REGRESSION · DAST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233507" y="2583179"/>
            <a:ext cx="118872" cy="137160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10375239" y="205740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F4EDE1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430103" y="224028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1A20"/>
                </a:solidFill>
                <a:latin typeface="Segoe UI"/>
              </a:rPr>
              <a:t>Promote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0959" y="2606040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650" b="1">
                <a:solidFill>
                  <a:srgbClr val="9A6413"/>
                </a:solidFill>
                <a:latin typeface="Segoe UI"/>
              </a:rPr>
              <a:t>COMPLIANCE</a:t>
            </a:r>
          </a:p>
          <a:p>
            <a:pPr algn="ctr">
              <a:lnSpc>
                <a:spcPct val="105000"/>
              </a:lnSpc>
            </a:pPr>
            <a:r>
              <a:rPr sz="650" b="0">
                <a:solidFill>
                  <a:srgbClr val="9A6413"/>
                </a:solidFill>
                <a:latin typeface="Segoe UI"/>
              </a:rPr>
              <a:t>PARENT ID CLOSES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015" y="3328415"/>
            <a:ext cx="1234440" cy="219456"/>
          </a:xfrm>
          <a:prstGeom prst="roundRect">
            <a:avLst>
              <a:gd name="adj" fmla="val 3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82015" y="337870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4A5361"/>
                </a:solidFill>
                <a:latin typeface="Segoe UI"/>
              </a:rPr>
              <a:t>CONCERT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81047" y="3328415"/>
            <a:ext cx="1234440" cy="219456"/>
          </a:xfrm>
          <a:prstGeom prst="roundRect">
            <a:avLst>
              <a:gd name="adj" fmla="val 3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981047" y="337870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4A5361"/>
                </a:solidFill>
                <a:latin typeface="Segoe UI"/>
              </a:rPr>
              <a:t>CONCERT + CONTINUUM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6207" y="3328415"/>
            <a:ext cx="1234440" cy="219456"/>
          </a:xfrm>
          <a:prstGeom prst="roundRect">
            <a:avLst>
              <a:gd name="adj" fmla="val 3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976207" y="337870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4A5361"/>
                </a:solidFill>
                <a:latin typeface="Segoe UI"/>
              </a:rPr>
              <a:t>CONTINUUM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75239" y="3328415"/>
            <a:ext cx="1234440" cy="219456"/>
          </a:xfrm>
          <a:prstGeom prst="roundRect">
            <a:avLst>
              <a:gd name="adj" fmla="val 3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375239" y="337870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4A5361"/>
                </a:solidFill>
                <a:latin typeface="Segoe UI"/>
              </a:rPr>
              <a:t>CONCERT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3584448"/>
            <a:ext cx="11183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C8693"/>
                </a:solidFill>
                <a:latin typeface="Segoe UI"/>
              </a:rPr>
              <a:t>REPEATS PER CHILD ID UNTIL EVERY AFFECTED COMPONENT IS RELEASED   ·   AMBER = HUMAN DECISION   ·   GREY = PLATFORM INVOLVED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0575" y="3950208"/>
            <a:ext cx="3566160" cy="1335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91743" y="4133088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9A6413"/>
                </a:solidFill>
                <a:latin typeface="Segoe UI"/>
              </a:rPr>
              <a:t>DECISION 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743" y="4361688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71A20"/>
                </a:solidFill>
                <a:latin typeface="Segoe UI"/>
              </a:rPr>
              <a:t>Code owner approves the PR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1743" y="4681728"/>
            <a:ext cx="31638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Is this the right change to this code? Already enforced by protected branches — no new control to build.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12767" y="3950208"/>
            <a:ext cx="3566160" cy="1335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513935" y="4133088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9A6413"/>
                </a:solidFill>
                <a:latin typeface="Segoe UI"/>
              </a:rPr>
              <a:t>DECISION TWO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13935" y="4361688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71A20"/>
                </a:solidFill>
                <a:latin typeface="Segoe UI"/>
              </a:rPr>
              <a:t>QA owns the test profiles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13935" y="4681728"/>
            <a:ext cx="31638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What must be proven before this application ships? Defined once per application, then applied automatically.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4959" y="3950208"/>
            <a:ext cx="3566160" cy="1335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336127" y="4133088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9A6413"/>
                </a:solidFill>
                <a:latin typeface="Segoe UI"/>
              </a:rPr>
              <a:t>DECISION THREE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6127" y="4361688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71A20"/>
                </a:solidFill>
                <a:latin typeface="Segoe UI"/>
              </a:rPr>
              <a:t>Compliance signs off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6127" y="4681728"/>
            <a:ext cx="31638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Is the evidence sufficient to release? Judged on the assembled evidence pack, not on code.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5623560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5806440"/>
            <a:ext cx="11183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800" b="1">
                <a:solidFill>
                  <a:srgbClr val="9A6413"/>
                </a:solidFill>
                <a:latin typeface="Segoe UI"/>
              </a:rPr>
              <a:t>NON-NEGOTIABLE DESIGN RULES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Build once, promote thereafter — never rebuild after testing   ·   Determinism comes from the proof test, never from the agent   ·   The proof test must fail against the pre-fix commit before it passes   ·   Deltas compare to the branch point, never an absolute threshold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A6413"/>
                </a:solidFill>
                <a:latin typeface="Segoe UI"/>
              </a:rPr>
              <a:t>SECURITY REMEDIATION  ·  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1089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C8693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1A20"/>
                </a:solidFill>
                <a:latin typeface="Segoe UI"/>
              </a:rPr>
              <a:t>The Gap to Get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361"/>
                </a:solidFill>
                <a:latin typeface="Segoe UI"/>
              </a:rPr>
              <a:t>The flow is only as fast as its slowest missing capability. Ordered by lead time, not by effort — the first three block the design itself, not merely its speed.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20240"/>
          <a:ext cx="11183112" cy="4105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/>
                <a:gridCol w="6446520"/>
                <a:gridCol w="1947672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7C8693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anchor="ctr" marL="128016" marT="45720" marB="45720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7C8693"/>
                          </a:solidFill>
                          <a:latin typeface="Segoe UI"/>
                        </a:rPr>
                        <a:t>WHY IT IS REQUIRED</a:t>
                      </a:r>
                    </a:p>
                  </a:txBody>
                  <a:tcPr anchor="ctr" marL="128016" marT="45720" marB="45720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7C8693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128016" marT="45720" marB="45720">
                    <a:solidFill>
                      <a:srgbClr val="EEF0F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71A20"/>
                          </a:solidFill>
                          <a:latin typeface="Segoe UI"/>
                        </a:rPr>
                        <a:t>SARIF normalization layer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0">
                          <a:solidFill>
                            <a:srgbClr val="4A5361"/>
                          </a:solidFill>
                          <a:latin typeface="Segoe UI"/>
                        </a:rPr>
                        <a:t>Converts every source to one intake format. Veracode exports SARIF; AI-discovery output needs a converter built.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A33A3A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71A20"/>
                          </a:solidFill>
                          <a:latin typeface="Segoe UI"/>
                        </a:rPr>
                        <a:t>SBOM store + reverse index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0">
                          <a:solidFill>
                            <a:srgbClr val="4A5361"/>
                          </a:solidFill>
                          <a:latin typeface="Segoe UI"/>
                        </a:rPr>
                        <a:t>Resolves blast radius — the only way to find consumers of an internal component.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9A6413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71A20"/>
                          </a:solidFill>
                          <a:latin typeface="Segoe UI"/>
                        </a:rPr>
                        <a:t>Finding platform  ·  Concert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0">
                          <a:solidFill>
                            <a:srgbClr val="4A5361"/>
                          </a:solidFill>
                          <a:latin typeface="Segoe UI"/>
                        </a:rPr>
                        <a:t>Ingests all sources, correlates the estate, holds parent and child IDs. Two capabilities unproven — see below.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9A6413"/>
                          </a:solidFill>
                          <a:latin typeface="Segoe UI"/>
                        </a:rPr>
                        <a:t>PROVE FIRST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71A20"/>
                          </a:solidFill>
                          <a:latin typeface="Segoe UI"/>
                        </a:rPr>
                        <a:t>Exploitability  ·  Continuum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0">
                          <a:solidFill>
                            <a:srgbClr val="4A5361"/>
                          </a:solidFill>
                          <a:latin typeface="Segoe UI"/>
                        </a:rPr>
                        <a:t>Ranks children by real reachability before agent spend; revalidates a fixed finding against the live app.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7C8693"/>
                          </a:solidFill>
                          <a:latin typeface="Segoe UI"/>
                        </a:rPr>
                        <a:t>GATED PREVIEW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71A20"/>
                          </a:solidFill>
                          <a:latin typeface="Segoe UI"/>
                        </a:rPr>
                        <a:t>Delta code analysis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0">
                          <a:solidFill>
                            <a:srgbClr val="4A5361"/>
                          </a:solidFill>
                          <a:latin typeface="Segoe UI"/>
                        </a:rPr>
                        <a:t>Every scan scoped to the change. Current SAST platform cannot analyse a diff.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A33A3A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71A20"/>
                          </a:solidFill>
                          <a:latin typeface="Segoe UI"/>
                        </a:rPr>
                        <a:t>Branch-capable static quality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0">
                          <a:solidFill>
                            <a:srgbClr val="4A5361"/>
                          </a:solidFill>
                          <a:latin typeface="Segoe UI"/>
                        </a:rPr>
                        <a:t>Per-branch and per-PR analysis. Verify edition licensing before design depends on it.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9A6413"/>
                          </a:solidFill>
                          <a:latin typeface="Segoe UI"/>
                        </a:rPr>
                        <a:t>VERIFY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71A20"/>
                          </a:solidFill>
                          <a:latin typeface="Segoe UI"/>
                        </a:rPr>
                        <a:t>Elastic CI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0">
                          <a:solidFill>
                            <a:srgbClr val="4A5361"/>
                          </a:solidFill>
                          <a:latin typeface="Segoe UI"/>
                        </a:rPr>
                        <a:t>Absorbs campaign bursts. Static agent pools cap throughput regardless of gate design.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A33A3A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71A20"/>
                          </a:solidFill>
                          <a:latin typeface="Segoe UI"/>
                        </a:rPr>
                        <a:t>On-demand environments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0">
                          <a:solidFill>
                            <a:srgbClr val="4A5361"/>
                          </a:solidFill>
                          <a:latin typeface="Segoe UI"/>
                        </a:rPr>
                        <a:t>Removes environment booking from the critical path, which otherwise dominates lead time.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A33A3A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71A20"/>
                          </a:solidFill>
                          <a:latin typeface="Segoe UI"/>
                        </a:rPr>
                        <a:t>Test impact selection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0">
                          <a:solidFill>
                            <a:srgbClr val="4A5361"/>
                          </a:solidFill>
                          <a:latin typeface="Segoe UI"/>
                        </a:rPr>
                        <a:t>Keeps pipelines inside their time budget as finding volume rises.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A33A3A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71A20"/>
                          </a:solidFill>
                          <a:latin typeface="Segoe UI"/>
                        </a:rPr>
                        <a:t>Proof-test harnesses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50" b="0">
                          <a:solidFill>
                            <a:srgbClr val="4A5361"/>
                          </a:solidFill>
                          <a:latin typeface="Segoe UI"/>
                        </a:rPr>
                        <a:t>A small set per runtime, built once and reused across the estate.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A33A3A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144768"/>
            <a:ext cx="5486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00" b="1">
                <a:solidFill>
                  <a:srgbClr val="9A6413"/>
                </a:solidFill>
                <a:latin typeface="Segoe UI"/>
              </a:rPr>
              <a:t>THE BINDING CONSTRAINT</a:t>
            </a:r>
          </a:p>
          <a:p>
            <a:pPr algn="l">
              <a:lnSpc>
                <a:spcPct val="118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Elastic CI and on-demand environments gate everything else. Without them the design is sound but the throughput ceiling is set by infrastructure, not by gates.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6144768"/>
            <a:ext cx="5394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00" b="1">
                <a:solidFill>
                  <a:srgbClr val="9A6413"/>
                </a:solidFill>
                <a:latin typeface="Segoe UI"/>
              </a:rPr>
              <a:t>TWO PROOF-OF-CONCEPTS BEFORE COMMITTING TO CONCERT</a:t>
            </a:r>
          </a:p>
          <a:p>
            <a:pPr algn="l">
              <a:lnSpc>
                <a:spcPct val="118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1  Upload the same SARIF twice, then again with shifted line numbers — does it collapse to one finding?   2  Given a component and version, can it return every artifact that ships 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A6413"/>
                </a:solidFill>
                <a:latin typeface="Segoe UI"/>
              </a:rPr>
              <a:t>SECURITY REMEDIATION  ·  SEQUENCING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1089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C8693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1A20"/>
                </a:solidFill>
                <a:latin typeface="Segoe UI"/>
              </a:rPr>
              <a:t>Closing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361"/>
                </a:solidFill>
                <a:latin typeface="Segoe UI"/>
              </a:rPr>
              <a:t>Traceability before speed. Automation applied to an untraceable estate produces velocity without proof, which is a worse position than slow remediation.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2851" y="2103120"/>
            <a:ext cx="2670048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14019" y="2322576"/>
            <a:ext cx="2267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9A6413"/>
                </a:solidFill>
                <a:latin typeface="Segoe UI"/>
              </a:rPr>
              <a:t>PHASE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019" y="256032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1A20"/>
                </a:solidFill>
                <a:latin typeface="Segoe UI"/>
              </a:rPr>
              <a:t>Prove the spine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019" y="2971800"/>
            <a:ext cx="22677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4A5361"/>
                </a:solidFill>
                <a:latin typeface="Segoe UI"/>
              </a:rPr>
              <a:t>Canonical and child IDs. SBOM reverse index. One pilot application end to 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019" y="3995928"/>
            <a:ext cx="22677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71A20"/>
                </a:solidFill>
                <a:latin typeface="Segoe UI"/>
              </a:rPr>
              <a:t>Success is a provable closure, not a fast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1499" y="2103120"/>
            <a:ext cx="2670048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12667" y="2322576"/>
            <a:ext cx="2267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9A6413"/>
                </a:solidFill>
                <a:latin typeface="Segoe UI"/>
              </a:rPr>
              <a:t>PHASE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2667" y="256032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1A20"/>
                </a:solidFill>
                <a:latin typeface="Segoe UI"/>
              </a:rPr>
              <a:t>Make it 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2667" y="2971800"/>
            <a:ext cx="22677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4A5361"/>
                </a:solidFill>
                <a:latin typeface="Segoe UI"/>
              </a:rPr>
              <a:t>Delta scanning. Elastic CI. Test impact selection. Ephemeral environments.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2667" y="3995928"/>
            <a:ext cx="22677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71A20"/>
                </a:solidFill>
                <a:latin typeface="Segoe UI"/>
              </a:rPr>
              <a:t>Pipeline time budget defined and enforced.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7" y="2103120"/>
            <a:ext cx="2670048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11315" y="2322576"/>
            <a:ext cx="2267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9A6413"/>
                </a:solidFill>
                <a:latin typeface="Segoe UI"/>
              </a:rPr>
              <a:t>PHASE THREE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1315" y="256032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1A20"/>
                </a:solidFill>
                <a:latin typeface="Segoe UI"/>
              </a:rPr>
              <a:t>Make it wide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1315" y="2971800"/>
            <a:ext cx="22677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4A5361"/>
                </a:solidFill>
                <a:latin typeface="Segoe UI"/>
              </a:rPr>
              <a:t>Onboard by application tier. Uptake children auto-merged on green. Agent introduced on the source-fix path.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1315" y="3995928"/>
            <a:ext cx="22677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71A20"/>
                </a:solidFill>
                <a:latin typeface="Segoe UI"/>
              </a:rPr>
              <a:t>Coverage becomes the reported metric.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8795" y="2103120"/>
            <a:ext cx="2670048" cy="2606040"/>
          </a:xfrm>
          <a:prstGeom prst="roundRect">
            <a:avLst>
              <a:gd name="adj" fmla="val 5000"/>
            </a:avLst>
          </a:prstGeom>
          <a:solidFill>
            <a:srgbClr val="F4EDE1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09963" y="2322576"/>
            <a:ext cx="2267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9A6413"/>
                </a:solidFill>
                <a:latin typeface="Segoe UI"/>
              </a:rPr>
              <a:t>CONTINUOUS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9963" y="256032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1A20"/>
                </a:solidFill>
                <a:latin typeface="Segoe UI"/>
              </a:rPr>
              <a:t>Prevent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9963" y="2971800"/>
            <a:ext cx="22677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4A5361"/>
                </a:solidFill>
                <a:latin typeface="Segoe UI"/>
              </a:rPr>
              <a:t>Automated dependency currency, running alongside all three phases.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9963" y="3995928"/>
            <a:ext cx="22677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71A20"/>
                </a:solidFill>
                <a:latin typeface="Segoe UI"/>
              </a:rPr>
              <a:t>Removes more findings than any pipeline improvement.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74920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85232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800" b="1">
                <a:solidFill>
                  <a:srgbClr val="9A6413"/>
                </a:solidFill>
                <a:latin typeface="Segoe UI"/>
              </a:rPr>
              <a:t>HOW WE WILL KNOW IT WORKS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71A20"/>
                </a:solidFill>
                <a:latin typeface="Segoe UI"/>
              </a:rPr>
              <a:t>Finding to production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Elapsed time from ingest to the last child ID running in production, at p50 and p95. Measured on the parent, so partial remediation cannot be reported as success.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5285232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71A20"/>
                </a:solidFill>
                <a:latin typeface="Segoe UI"/>
              </a:rPr>
              <a:t>Pass rate per gate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Any gate that has not failed in a quarter is not protecting anything. Remove it and return the time to the pipeline before adding the next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