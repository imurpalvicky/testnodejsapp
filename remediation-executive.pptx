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A6413"/>
                </a:solidFill>
                <a:latin typeface="Segoe UI"/>
              </a:rPr>
              <a:t>SECURITY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108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7C8693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171A20"/>
                </a:solidFill>
                <a:latin typeface="Segoe UI"/>
              </a:rPr>
              <a:t>How a Fix Reaches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A5361"/>
                </a:solidFill>
                <a:latin typeface="Segoe UI"/>
              </a:rPr>
              <a:t>One security finding usually affects many systems. Today we fix them one at a time and cannot prove we found them all. This is the path that changes that — automated end to end, with three human checkpoints.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1995" y="2048256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6859" y="2176272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C8693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859" y="2395728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71A20"/>
                </a:solidFill>
                <a:latin typeface="Segoe UI"/>
              </a:rPr>
              <a:t>Find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291" y="2779776"/>
            <a:ext cx="1133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A weakness is reported by any
source — scanner, AI review,
external researcher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38731" y="2944368"/>
            <a:ext cx="100583" cy="128016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857603" y="2048256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12467" y="2176272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C8693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2467" y="2395728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71A20"/>
                </a:solidFill>
                <a:latin typeface="Segoe UI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9899" y="2779776"/>
            <a:ext cx="1133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We identify every system
affected and rank them by
real-world exposure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74339" y="2944368"/>
            <a:ext cx="100583" cy="128016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293211" y="2048256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348075" y="2176272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C8693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8075" y="2395728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71A20"/>
                </a:solidFill>
                <a:latin typeface="Segoe UI"/>
              </a:rPr>
              <a:t>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5507" y="2779776"/>
            <a:ext cx="1133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An AI agent writes the fix
and a test that proves the
weakness is gone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609947" y="2944368"/>
            <a:ext cx="100583" cy="128016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4728819" y="2048256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783683" y="2176272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C8693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3683" y="2395728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71A20"/>
                </a:solidFill>
                <a:latin typeface="Segoe UI"/>
              </a:rPr>
              <a:t>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1115" y="2779776"/>
            <a:ext cx="1133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Automated safety checks run
before any person spends
time on it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45555" y="2944368"/>
            <a:ext cx="100583" cy="128016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164427" y="2048256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F4EDE1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9291" y="2176272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6413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9291" y="2395728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71A20"/>
                </a:solidFill>
                <a:latin typeface="Segoe UI"/>
              </a:rPr>
              <a:t>Approve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6723" y="2779776"/>
            <a:ext cx="1133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The engineer who owns the
code approves — and only ever
sees changes already proven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481163" y="2944368"/>
            <a:ext cx="100583" cy="128016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7600035" y="2048256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654899" y="2176272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C8693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4899" y="2395728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71A20"/>
                </a:solidFill>
                <a:latin typeface="Segoe UI"/>
              </a:rPr>
              <a:t>Release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2331" y="2779776"/>
            <a:ext cx="1133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Built once, deployed to
temporary infrastructure
created on demand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916771" y="2944368"/>
            <a:ext cx="100583" cy="128016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035643" y="2048256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F4EDE1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90507" y="2176272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6413"/>
                </a:solidFill>
                <a:latin typeface="Segoe U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0507" y="2395728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71A20"/>
                </a:solidFill>
                <a:latin typeface="Segoe UI"/>
              </a:rPr>
              <a:t>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7939" y="2779776"/>
            <a:ext cx="1133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The whole application is
tested together, not just the
parts that changed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0352379" y="2944368"/>
            <a:ext cx="100583" cy="128016"/>
          </a:xfrm>
          <a:prstGeom prst="rightArrow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10471251" y="2048256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F4EDE1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526115" y="2176272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6413"/>
                </a:solidFill>
                <a:latin typeface="Segoe U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26115" y="2395728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71A20"/>
                </a:solidFill>
                <a:latin typeface="Segoe UI"/>
              </a:rPr>
              <a:t>Go 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3547" y="2779776"/>
            <a:ext cx="113385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Compliance signs off on the
evidence, then release rolls
out gradually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1995" y="4041648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21995" y="4091939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4A5361"/>
                </a:solidFill>
                <a:latin typeface="Segoe UI"/>
              </a:rPr>
              <a:t>FINDING PLATFORM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57603" y="4041648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857603" y="4091939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4A5361"/>
                </a:solidFill>
                <a:latin typeface="Segoe UI"/>
              </a:rPr>
              <a:t>EXPLOIT VALIDATION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3211" y="4041648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293211" y="4091939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4A5361"/>
                </a:solidFill>
                <a:latin typeface="Segoe UI"/>
              </a:rPr>
              <a:t>REMEDIATION AGENT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35643" y="4041648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35643" y="4091939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4A5361"/>
                </a:solidFill>
                <a:latin typeface="Segoe UI"/>
              </a:rPr>
              <a:t>EXPLOIT VALIDATION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71251" y="4041648"/>
            <a:ext cx="1298448" cy="219456"/>
          </a:xfrm>
          <a:prstGeom prst="roundRect">
            <a:avLst>
              <a:gd name="adj" fmla="val 3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471251" y="4091939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4A5361"/>
                </a:solidFill>
                <a:latin typeface="Segoe UI"/>
              </a:rPr>
              <a:t>FINDING PLATFORM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352544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7C8693"/>
                </a:solidFill>
                <a:latin typeface="Segoe UI"/>
              </a:rPr>
              <a:t>STEPS 3 TO 6 REPEAT FOR EVERY AFFECTED SYSTEM  ·  GREY = PLATFORM CAPABILITY WE MUST ACQUIRE OR BUILD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0575" y="4700016"/>
            <a:ext cx="356616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91743" y="4846320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9A6413"/>
                </a:solidFill>
                <a:latin typeface="Segoe UI"/>
              </a:rPr>
              <a:t>HUMAN CHECKPOINT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1743" y="5065776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1A20"/>
                </a:solidFill>
                <a:latin typeface="Segoe UI"/>
              </a:rPr>
              <a:t>Engineer approves the change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1743" y="5303520"/>
            <a:ext cx="31638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5361"/>
                </a:solidFill>
                <a:latin typeface="Segoe UI"/>
              </a:rPr>
              <a:t>Is this the right fix? The only question a person still has to answer.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12767" y="4700016"/>
            <a:ext cx="356616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513935" y="4846320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9A6413"/>
                </a:solidFill>
                <a:latin typeface="Segoe UI"/>
              </a:rPr>
              <a:t>HUMAN CHECKPOINT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13935" y="5065776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1A20"/>
                </a:solidFill>
                <a:latin typeface="Segoe UI"/>
              </a:rPr>
              <a:t>QA sets the testing standard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13935" y="5303520"/>
            <a:ext cx="31638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5361"/>
                </a:solidFill>
                <a:latin typeface="Segoe UI"/>
              </a:rPr>
              <a:t>Agreed once per application, then applied automatically every time.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34959" y="4700016"/>
            <a:ext cx="356616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6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336127" y="4846320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9A6413"/>
                </a:solidFill>
                <a:latin typeface="Segoe UI"/>
              </a:rPr>
              <a:t>HUMAN CHECKPOINT 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6127" y="5065776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1A20"/>
                </a:solidFill>
                <a:latin typeface="Segoe UI"/>
              </a:rPr>
              <a:t>Compliance signs off to release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36127" y="5303520"/>
            <a:ext cx="31638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5361"/>
                </a:solidFill>
                <a:latin typeface="Segoe UI"/>
              </a:rPr>
              <a:t>Reviews assembled evidence, not code. Minutes, not days.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888736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6071616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00" b="1">
                <a:solidFill>
                  <a:srgbClr val="9A6413"/>
                </a:solidFill>
                <a:latin typeface="Segoe UI"/>
              </a:rPr>
              <a:t>WHAT CHANGES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361"/>
                </a:solidFill>
                <a:latin typeface="Segoe UI"/>
              </a:rPr>
              <a:t>Today a finding becomes many disconnected tickets and closure is asserted. In the target state one finding carries one reference through every affected system, and closure is proven — which is the difference between telling a regulator we remediated and showing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A6413"/>
                </a:solidFill>
                <a:latin typeface="Segoe UI"/>
              </a:rPr>
              <a:t>SECURITY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108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7C8693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171A20"/>
                </a:solidFill>
                <a:latin typeface="Segoe UI"/>
              </a:rPr>
              <a:t>What We Need to Get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A5361"/>
                </a:solidFill>
                <a:latin typeface="Segoe UI"/>
              </a:rPr>
              <a:t>Eleven capabilities, grouped by what they unlock. The first group blocks the design outright; the second sets the ceiling on how fast it can ever run; the third we cannot size until we take a baseline.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A33A3A"/>
                </a:solidFill>
                <a:latin typeface="Segoe UI"/>
              </a:rPr>
              <a:t>WITHOUT THESE, THE DESIGN DOES NOT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03704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EEF0F3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04088" y="2286000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Findings platform on a common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78024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All scanner and AI sources normalised to SARIF, one tracking ID per weakness, de-duplicated across re-scans.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07208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EEF0F3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4088" y="2889504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SBOM store with a reverse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081528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Query “which artefacts ship component X at version Y”. A forward SBOM alone cannot answer this.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10712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EEF0F3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04088" y="3493008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Agentic remediation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85032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Generates the code fix and the automated test proving the weakness is closed. Manual fixing does not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14216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EEF0F3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088" y="4096512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Proof-test harnesses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88536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Reusable test scaffolding per runtime, for weaknesses no scanner can re-verify — AI and pen-test findings.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4573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7C8693"/>
                </a:solidFill>
                <a:latin typeface="Segoe UI"/>
              </a:rPr>
              <a:t>WE CANNOT SIZE THESE UNTIL WE MEASURE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8348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4088" y="5065776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DAST scan throughput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5257800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Full dynamic scans run for hours and sit on the release path. Needs scoping or parallel execution.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86984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4088" y="5669280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Regression runtime and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861304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Suite wall-clock time is the release cadence floor; coverage determines the residual risk we carry.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1965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9A6413"/>
                </a:solidFill>
                <a:latin typeface="Segoe UI"/>
              </a:rPr>
              <a:t>WITHOUT THESE, IT IS TOO SLOW TO MATTER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2203704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2286000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Exploitation validation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78024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Reachability analysis ranking findings by real exposure, so agent spend goes only where risk is genuine.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2807208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0" y="2889504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Elastic CI with ephemeral runners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081528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Build agents are fixed-size today. A remediation campaign would queue behind normal delivery work.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3410712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0" y="3493008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On-demand test environments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685032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Environment booking currently dominates lead time more than writing the fix does.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4014216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00800" y="4096512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Delta-scoped code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88536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SAST and static quality against the diff, not the whole application. Current platform cannot do this.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461772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3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0" y="4700016"/>
            <a:ext cx="50840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71A20"/>
                </a:solidFill>
                <a:latin typeface="Segoe UI"/>
              </a:rPr>
              <a:t>API contract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92040"/>
            <a:ext cx="5084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A5361"/>
                </a:solidFill>
                <a:latin typeface="Segoe UI"/>
              </a:rPr>
              <a:t>Schema diff and consumer-driven contracts, catching breakage at PR rather than at integration.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144768"/>
            <a:ext cx="11183112" cy="9525"/>
          </a:xfrm>
          <a:prstGeom prst="rect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309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00" b="1">
                <a:solidFill>
                  <a:srgbClr val="9A6413"/>
                </a:solidFill>
                <a:latin typeface="Segoe UI"/>
              </a:rPr>
              <a:t>THE ONE THAT GATES THE REST</a:t>
            </a:r>
          </a:p>
          <a:p>
            <a:pPr algn="l">
              <a:lnSpc>
                <a:spcPct val="118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Build capacity and on-demand environments. Everything else can be excellent and still deliver nothing if these set the ceiling.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63093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800" b="1">
                <a:solidFill>
                  <a:srgbClr val="9A6413"/>
                </a:solidFill>
                <a:latin typeface="Segoe UI"/>
              </a:rPr>
              <a:t>HOW WE WILL REPORT PROGRESS</a:t>
            </a:r>
          </a:p>
          <a:p>
            <a:pPr algn="l">
              <a:lnSpc>
                <a:spcPct val="118000"/>
              </a:lnSpc>
            </a:pPr>
            <a:r>
              <a:rPr sz="950" b="0">
                <a:solidFill>
                  <a:srgbClr val="4A5361"/>
                </a:solidFill>
                <a:latin typeface="Segoe UI"/>
              </a:rPr>
              <a:t>Time from a finding being reported to the fix running in production — measured across every affected system, so partial progress cannot be reported as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